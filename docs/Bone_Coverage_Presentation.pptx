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COVERAGE  ·  VIVA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4FBFC"/>
                </a:solidFill>
                <a:latin typeface="Calibri"/>
              </a:rPr>
              <a:t>How many fractures of the human body can we test?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2EC4B6"/>
                </a:solidFill>
                <a:latin typeface="Calibri"/>
              </a:rPr>
              <a:t>206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CD6"/>
                </a:solidFill>
                <a:latin typeface="Calibri"/>
              </a:rPr>
              <a:t>Bones in the adult skeleton (we do not classify all of them)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14300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46304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2EC4B6"/>
                </a:solidFill>
                <a:latin typeface="Calibr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9456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CD6"/>
                </a:solidFill>
                <a:latin typeface="Calibri"/>
              </a:rPr>
              <a:t>Morphological fracture types (IEEE Access 2025)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14300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46304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2EC4B6"/>
                </a:solidFill>
                <a:latin typeface="Calibri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19456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CD6"/>
                </a:solidFill>
                <a:latin typeface="Calibri"/>
              </a:rPr>
              <a:t>Skeletal regions in this project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61188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93192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2EC4B6"/>
                </a:solidFill>
                <a:latin typeface="Calibri"/>
              </a:rPr>
              <a:t>~42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634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CD6"/>
                </a:solidFill>
                <a:latin typeface="Calibri"/>
              </a:rPr>
              <a:t>Named bones / bone groups inside those regions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61188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393192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2EC4B6"/>
                </a:solidFill>
                <a:latin typeface="Calibr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6634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CD6"/>
                </a:solidFill>
                <a:latin typeface="Calibri"/>
              </a:rPr>
              <a:t>Upper-limb YOLO classes in the published 86% mAP50 split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61188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393192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2EC4B6"/>
                </a:solidFill>
                <a:latin typeface="Calibri"/>
              </a:rPr>
              <a:t>110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6634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CD6"/>
                </a:solidFill>
                <a:latin typeface="Calibri"/>
              </a:rPr>
              <a:t>Max region × morphology combinations (not all labelled yet)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DO NOT MIX THESE TWO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4FBFC"/>
                </a:solidFill>
                <a:latin typeface="Calibri"/>
              </a:rPr>
              <a:t>Pattern of break  vs  bone / region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5577840" cy="502920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4FBFC"/>
                </a:solidFill>
                <a:latin typeface="Calibri"/>
              </a:rPr>
              <a:t>1. Morphology — HOW it broke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4FBFC"/>
                </a:solidFill>
                <a:latin typeface="Calibri"/>
              </a:rPr>
              <a:t>Avulsion, comminuted, dislocation, greenstick, hairline, impacted, longitudinal, oblique, pathological, spiral.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4FBFC"/>
                </a:solidFill>
                <a:latin typeface="Calibri"/>
              </a:rPr>
              <a:t>IEEE 10-class set: 1,129 X-rays. VGG-16 / VGG-16+RF accuracy 95%.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4FBFC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4FBFC"/>
                </a:solidFill>
                <a:latin typeface="Calibri"/>
              </a:rPr>
              <a:t>2. Anatomy — WHERE it is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4FBFC"/>
                </a:solidFill>
                <a:latin typeface="Calibri"/>
              </a:rPr>
              <a:t>Shoulder, humerus, elbow, forearm, wrist, fingers, pelvis, femur, knee, ankle, spine.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4FBFC"/>
                </a:solidFill>
                <a:latin typeface="Calibri"/>
              </a:rPr>
              <a:t>Abstract YOLO: 7 upper-limb labels, 3,316 / 399 images, mAP50 86%.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532120" cy="502920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4FBFC"/>
                </a:solidFill>
                <a:latin typeface="Calibri"/>
              </a:rPr>
              <a:t>Spoken answer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4FBFC"/>
                </a:solidFill>
                <a:latin typeface="Calibri"/>
              </a:rPr>
              <a:t>10 morphological fracture types across 11 skeletal regions, covering the bones that produce the large majority of trauma radiographs — not the entire 206-bone skeleton.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4FBFC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4FBFC"/>
                </a:solidFill>
                <a:latin typeface="Calibri"/>
              </a:rPr>
              <a:t>A complete report line is: “spiral fracture of the tibial shaft” = type + bone. The app outputs type and region; it does not name every carpal or every vertebra separately.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UPPER LIMB  ·  PUBLISHED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4FBFC"/>
                </a:solidFill>
                <a:latin typeface="Calibri"/>
              </a:rPr>
              <a:t>Bones in the 86% mAP50 YOLO 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F4FBFC"/>
                </a:solidFill>
                <a:latin typeface="Calibri"/>
              </a:rPr>
              <a:t>Shoulder — clavicle, scapula, proximal humerus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38528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F4FBFC"/>
                </a:solidFill>
                <a:latin typeface="Calibri"/>
              </a:rPr>
              <a:t>Humerus — shaft and distal humerus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61488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F4FBFC"/>
                </a:solidFill>
                <a:latin typeface="Calibri"/>
              </a:rPr>
              <a:t>Elbow — distal humerus, radial head/neck, olecranon, coronoid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84448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49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F4FBFC"/>
                </a:solidFill>
                <a:latin typeface="Calibri"/>
              </a:rPr>
              <a:t>Forearm — radius and ulna shafts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07408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F4FBFC"/>
                </a:solidFill>
                <a:latin typeface="Calibri"/>
              </a:rPr>
              <a:t>Wrist — distal radius/ulna, scaphoid and other carpals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30368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F4FBFC"/>
                </a:solidFill>
                <a:latin typeface="Calibri"/>
              </a:rPr>
              <a:t>Fingers — metacarpals 1–5 and all phalanges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WHOLE-BODY SCALE-UP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4FBFC"/>
                </a:solidFill>
                <a:latin typeface="Calibri"/>
              </a:rPr>
              <a:t>Extra regions in software (need more labelled films)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6760236800" y="1325880"/>
            <a:ext cx="3337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4FBFC"/>
                </a:solidFill>
                <a:latin typeface="Calibri"/>
              </a:rPr>
              <a:t>Pelvis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4FBFC"/>
                </a:solidFill>
                <a:latin typeface="Calibri"/>
              </a:rPr>
              <a:t>Ilium, ischium, pubis, sacrum, acetabulum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143000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38495148800" y="1325880"/>
            <a:ext cx="3337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4FBFC"/>
                </a:solidFill>
                <a:latin typeface="Calibri"/>
              </a:rPr>
              <a:t>Femur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4FBFC"/>
                </a:solidFill>
                <a:latin typeface="Calibri"/>
              </a:rPr>
              <a:t>Neck, intertrochanteric region, shaft, distal femur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143000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50230060800" y="1325880"/>
            <a:ext cx="3337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4FBFC"/>
                </a:solidFill>
                <a:latin typeface="Calibri"/>
              </a:rPr>
              <a:t>Knee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4FBFC"/>
                </a:solidFill>
                <a:latin typeface="Calibri"/>
              </a:rPr>
              <a:t>Distal femur, patella, tibial plateau, proximal fibula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749039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6760236800" y="3931919"/>
            <a:ext cx="3337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4FBFC"/>
                </a:solidFill>
                <a:latin typeface="Calibri"/>
              </a:rPr>
              <a:t>Ankle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4FBFC"/>
                </a:solidFill>
                <a:latin typeface="Calibri"/>
              </a:rPr>
              <a:t>Distal tibia &amp; fibula (malleoli), talus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749039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38495148800" y="3931919"/>
            <a:ext cx="3337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4FBFC"/>
                </a:solidFill>
                <a:latin typeface="Calibri"/>
              </a:rPr>
              <a:t>Spine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4FBFC"/>
                </a:solidFill>
                <a:latin typeface="Calibri"/>
              </a:rPr>
              <a:t>Cervical, thoracic, lumbar vertebrae as groups — not 24 IDs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749039"/>
            <a:ext cx="365760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230060800" y="3931919"/>
            <a:ext cx="3337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4FBFC"/>
                </a:solidFill>
                <a:latin typeface="Calibri"/>
              </a:rPr>
              <a:t>20k story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4FBFC"/>
                </a:solidFill>
                <a:latin typeface="Calibri"/>
              </a:rPr>
              <a:t>GRAZPEDWRI-DX = 20,327 wrist studies (not 20k of every bone)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TEN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4FBFC"/>
                </a:solidFill>
                <a:latin typeface="Calibri"/>
              </a:rPr>
              <a:t>Morphology classes (any region)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224028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34440"/>
            <a:ext cx="202996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4FBFC"/>
                </a:solidFill>
                <a:latin typeface="Calibri"/>
              </a:rPr>
              <a:t>Avulsion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4FBFC"/>
                </a:solidFill>
                <a:latin typeface="Calibri"/>
              </a:rPr>
              <a:t>A ligament or tendon pulls a bone fragment off.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79192" y="1097280"/>
            <a:ext cx="224028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234440"/>
            <a:ext cx="202996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4FBFC"/>
                </a:solidFill>
                <a:latin typeface="Calibri"/>
              </a:rPr>
              <a:t>Comminuted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4FBFC"/>
                </a:solidFill>
                <a:latin typeface="Calibri"/>
              </a:rPr>
              <a:t>Bone broken into three or more pieces.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38344" y="1097280"/>
            <a:ext cx="224028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8072" y="1234440"/>
            <a:ext cx="202996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4FBFC"/>
                </a:solidFill>
                <a:latin typeface="Calibri"/>
              </a:rPr>
              <a:t>Fracture-Dislocation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4FBFC"/>
                </a:solidFill>
                <a:latin typeface="Calibri"/>
              </a:rPr>
              <a:t>Break plus the joint is out of place.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7496" y="1097280"/>
            <a:ext cx="224028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234440"/>
            <a:ext cx="202996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4FBFC"/>
                </a:solidFill>
                <a:latin typeface="Calibri"/>
              </a:rPr>
              <a:t>Greenstick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4FBFC"/>
                </a:solidFill>
                <a:latin typeface="Calibri"/>
              </a:rPr>
              <a:t>Incomplete break in a flexible (usually paediatric) bone.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56648" y="1097280"/>
            <a:ext cx="224028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66376" y="1234440"/>
            <a:ext cx="202996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4FBFC"/>
                </a:solidFill>
                <a:latin typeface="Calibri"/>
              </a:rPr>
              <a:t>Hairline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4FBFC"/>
                </a:solidFill>
                <a:latin typeface="Calibri"/>
              </a:rPr>
              <a:t>Very thin crack; easy to miss on X-ray.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703320"/>
            <a:ext cx="224028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3840480"/>
            <a:ext cx="202996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4FBFC"/>
                </a:solidFill>
                <a:latin typeface="Calibri"/>
              </a:rPr>
              <a:t>Impacted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4FBFC"/>
                </a:solidFill>
                <a:latin typeface="Calibri"/>
              </a:rPr>
              <a:t>Fragments are driven into each other.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79192" y="3703320"/>
            <a:ext cx="224028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3840480"/>
            <a:ext cx="202996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4FBFC"/>
                </a:solidFill>
                <a:latin typeface="Calibri"/>
              </a:rPr>
              <a:t>Longitudinal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4FBFC"/>
                </a:solidFill>
                <a:latin typeface="Calibri"/>
              </a:rPr>
              <a:t>Crack runs along the long axis of the bone.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38344" y="3703320"/>
            <a:ext cx="224028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8072" y="3840480"/>
            <a:ext cx="202996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4FBFC"/>
                </a:solidFill>
                <a:latin typeface="Calibri"/>
              </a:rPr>
              <a:t>Oblique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4FBFC"/>
                </a:solidFill>
                <a:latin typeface="Calibri"/>
              </a:rPr>
              <a:t>Diagonal break across the shaft.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7496" y="3703320"/>
            <a:ext cx="224028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07224" y="3840480"/>
            <a:ext cx="202996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4FBFC"/>
                </a:solidFill>
                <a:latin typeface="Calibri"/>
              </a:rPr>
              <a:t>Pathological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4FBFC"/>
                </a:solidFill>
                <a:latin typeface="Calibri"/>
              </a:rPr>
              <a:t>Break through bone weakened by disease (tumour, osteoporosis, cyst).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56648" y="3703320"/>
            <a:ext cx="2240280" cy="242316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66376" y="3840480"/>
            <a:ext cx="202996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4FBFC"/>
                </a:solidFill>
                <a:latin typeface="Calibri"/>
              </a:rPr>
              <a:t>Spiral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4FBFC"/>
                </a:solidFill>
                <a:latin typeface="Calibri"/>
              </a:rPr>
              <a:t>Helical break from a twisting force.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OUT OF SCOPE AS DEDICATED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4FBFC"/>
                </a:solidFill>
                <a:latin typeface="Calibri"/>
              </a:rPr>
              <a:t>What we do not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F4FBFC"/>
                </a:solidFill>
                <a:latin typeface="Calibri"/>
              </a:rPr>
              <a:t>Skull and facial bones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4FBFC"/>
                </a:solidFill>
                <a:latin typeface="Calibri"/>
              </a:rPr>
              <a:t>Ribs and sternum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4FBFC"/>
                </a:solidFill>
                <a:latin typeface="Calibri"/>
              </a:rPr>
              <a:t>Most bones of the foot (metatarsals / midfoot) as their own classes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4FBFC"/>
                </a:solidFill>
                <a:latin typeface="Calibri"/>
              </a:rPr>
              <a:t>Each of the 8 carpals or 24 vertebrae as separate outputs (they are grouped)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4FBFC"/>
                </a:solidFill>
                <a:latin typeface="Calibri"/>
              </a:rPr>
              <a:t>Replacing a radiologist, or using the metal overlay as a surgical plan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4FBFC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4FBFC"/>
                </a:solidFill>
                <a:latin typeface="Calibri"/>
              </a:rPr>
              <a:t>Those body parts can be added later with new labels and images — they are not in the current class list.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DATA YOU CAN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4FBFC"/>
                </a:solidFill>
                <a:latin typeface="Calibri"/>
              </a:rPr>
              <a:t>Counts behind the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9304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F4FBFC"/>
                </a:solidFill>
                <a:latin typeface="Calibri"/>
              </a:rPr>
              <a:t>10-class Kaggle morphology set — 1,129 images (paper Table 1).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66544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F4FBFC"/>
                </a:solidFill>
                <a:latin typeface="Calibri"/>
              </a:rPr>
              <a:t>YOLOv8 abstract split — 3,316 train / 399 val, 7 upper-limb classes.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9748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43784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F4FBFC"/>
                </a:solidFill>
                <a:latin typeface="Calibri"/>
              </a:rPr>
              <a:t>GRAZPEDWRI-DX — 20,327 pediatric wrist rows (CSV in the repo, match verified).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472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21024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F4FBFC"/>
                </a:solidFill>
                <a:latin typeface="Calibri"/>
              </a:rPr>
              <a:t>FracAtlas — 4,083 mixed musculoskeletal X-rays (YOLO/COCO/VOC).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5196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98264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F4FBFC"/>
                </a:solidFill>
                <a:latin typeface="Calibri"/>
              </a:rPr>
              <a:t>Live check: python main.py audit --probe  and  /datasets in the web 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75504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F4FBFC"/>
                </a:solidFill>
                <a:latin typeface="Calibri"/>
              </a:rPr>
              <a:t>Bone map in the app: /coverage  (Body coverage).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CLOSE THIS MINI-DECK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4FBFC"/>
                </a:solidFill>
                <a:latin typeface="Calibri"/>
              </a:rPr>
              <a:t>One sentence to remember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3291840"/>
          </a:xfrm>
          <a:prstGeom prst="roundRect">
            <a:avLst>
              <a:gd name="adj" fmla="val 8000"/>
            </a:avLst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F4FBFC"/>
                </a:solidFill>
                <a:latin typeface="Calibri"/>
              </a:rPr>
              <a:t>We test 10 ways a bone can break, on X-rays from 11 body regions — about 42 named bones — not all 206 bones of the human body.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4FBFC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4FBFC"/>
                </a:solidFill>
                <a:latin typeface="Calibri"/>
              </a:rPr>
              <a:t>Published scores: 95% morphology (VGG-16 family), 86% mAP50 upper-limb detection.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4FBFC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4FBFC"/>
                </a:solidFill>
                <a:latin typeface="Calibri"/>
              </a:rPr>
              <a:t>SHIBIN ANTONY  ·  811241013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