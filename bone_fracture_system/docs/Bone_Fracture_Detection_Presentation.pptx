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tit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680960" cy="6858000"/>
          </a:xfrm>
          <a:prstGeom prst="rect">
            <a:avLst/>
          </a:prstGeom>
          <a:solidFill>
            <a:srgbClr val="06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C4B6"/>
                </a:solidFill>
                <a:latin typeface="Calibri"/>
              </a:rPr>
              <a:t>MAJOR PROJECT  ·  ACADEMIC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6858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4FBFC"/>
                </a:solidFill>
                <a:latin typeface="Calibri"/>
              </a:rPr>
              <a:t>Medical Image Analysis for Bone Fracture Detection Using Deep Learning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1400" b="0">
                <a:solidFill>
                  <a:srgbClr val="B0CCD6"/>
                </a:solidFill>
                <a:latin typeface="Calibri"/>
              </a:rPr>
              <a:t>YOLOv8  ·  VGG-16 Ensemble  ·  Grad-CAM  ·  Surgical Refixation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794760"/>
            <a:ext cx="6583680" cy="214884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913632"/>
            <a:ext cx="6217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Submitted by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200" b="1">
                <a:solidFill>
                  <a:srgbClr val="F4FBFC"/>
                </a:solidFill>
                <a:latin typeface="Calibri"/>
              </a:rPr>
              <a:t>SHIBIN ANTONY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600" b="0">
                <a:solidFill>
                  <a:srgbClr val="B0CCD6"/>
                </a:solidFill>
                <a:latin typeface="Calibri"/>
              </a:rPr>
              <a:t>Enrollment No.  811241013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1100" b="1">
                <a:solidFill>
                  <a:srgbClr val="2EC4B6"/>
                </a:solidFill>
                <a:latin typeface="Calibri"/>
              </a:rPr>
              <a:t>Under the Guidance of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800" b="1">
                <a:solidFill>
                  <a:srgbClr val="F4FBFC"/>
                </a:solidFill>
                <a:latin typeface="Calibri"/>
              </a:rPr>
              <a:t>Project Guide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0CCD6"/>
                </a:solidFill>
                <a:latin typeface="Calibri"/>
              </a:rPr>
              <a:t>(Insert faculty name and designation)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5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8686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CD6"/>
                </a:solidFill>
                <a:latin typeface="Calibri"/>
              </a:rPr>
              <a:t>Medical Image Analysis for Bone Fracture Detection Using Deep Learning  |  SHIBIN ANTONY  |  811241013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4B6"/>
                </a:solidFill>
                <a:latin typeface="Calibri"/>
              </a:rPr>
              <a:t>SLIDE 02  · 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BFC"/>
                </a:solidFill>
                <a:latin typeface="Calibri"/>
              </a:rPr>
              <a:t>Abstract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11247120" cy="521208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FBFC"/>
                </a:solidFill>
                <a:latin typeface="Calibri"/>
              </a:rPr>
              <a:t>Bone fractures are among the most common musculoskeletal injuries and require timely, accurate diagnosis for effective treatment. This project presents a web-based clinical workstation that assists medical professionals in detecting and classifying fractures from X-ray and DICOM images with high precision.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1600" b="0">
                <a:solidFill>
                  <a:srgbClr val="F4FBFC"/>
                </a:solidFill>
                <a:latin typeface="Calibri"/>
              </a:rPr>
              <a:t>The core detector is YOLOv8, trained and validated on 3,316 training and 399 validation images covering anatomical sites such as elbow, fingers, forearm, humerus, shoulder, and wrist, achieving a mean Average Precision (mAP50) of 86%. Fracture morphology is classified using the IEEE Access 2025 stack: VGG-16 with Softmax, VGG-16 with Random Forest (both 95% accuracy), ResNet-50 with SVM (93%), and EfficientNetB0 with XGBoost (comparative baseline).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1600" b="0">
                <a:solidFill>
                  <a:srgbClr val="F4FBFC"/>
                </a:solidFill>
                <a:latin typeface="Calibri"/>
              </a:rPr>
              <a:t>Explainable AI (Grad-CAM) highlights suspected fracture regions, while severe or displaced patterns automatically generate an educational post-surgical refixation overlay (plates, screws, or intramedullary rods). A Flask dashboard with secure admin login, audit logs, and dark/light clinical UI makes the system usable in local, Jupyter, and Google Colab environments—supporting screening where radiology expertise is limited.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5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8686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CD6"/>
                </a:solidFill>
                <a:latin typeface="Calibri"/>
              </a:rPr>
              <a:t>Medical Image Analysis for Bone Fracture Detection Using Deep Learning  |  SHIBIN ANTONY  |  811241013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4B6"/>
                </a:solidFill>
                <a:latin typeface="Calibri"/>
              </a:rPr>
              <a:t>SLIDE 03  ·  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BFC"/>
                </a:solidFill>
                <a:latin typeface="Calibri"/>
              </a:rPr>
              <a:t>Contents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5440680" cy="621792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7101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C4B6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28930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4FBFC"/>
                </a:solidFill>
                <a:latin typeface="Calibri"/>
              </a:rPr>
              <a:t>Title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56232"/>
            <a:ext cx="5440680" cy="621792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3D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9842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C4B6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00253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4FBFC"/>
                </a:solidFill>
                <a:latin typeface="Calibri"/>
              </a:rPr>
              <a:t>Abstract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69464"/>
            <a:ext cx="5440680" cy="621792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697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C4B6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71576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4FBFC"/>
                </a:solidFill>
                <a:latin typeface="Calibri"/>
              </a:rPr>
              <a:t>Contents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82696"/>
            <a:ext cx="5440680" cy="621792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3D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4107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C4B6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4290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4FBFC"/>
                </a:solidFill>
                <a:latin typeface="Calibri"/>
              </a:rPr>
              <a:t>Introduction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995928"/>
            <a:ext cx="5440680" cy="621792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412394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C4B6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14223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4FBFC"/>
                </a:solidFill>
                <a:latin typeface="Calibri"/>
              </a:rPr>
              <a:t>Problem Statement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709160"/>
            <a:ext cx="5440680" cy="621792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3D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483717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C4B6"/>
                </a:solidFill>
                <a:latin typeface="Calibr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5546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4FBFC"/>
                </a:solidFill>
                <a:latin typeface="Calibri"/>
              </a:rPr>
              <a:t>Objectives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422392"/>
            <a:ext cx="5440680" cy="621792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55504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C4B6"/>
                </a:solidFill>
                <a:latin typeface="Calibri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6869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4FBFC"/>
                </a:solidFill>
                <a:latin typeface="Calibri"/>
              </a:rPr>
              <a:t>Existing System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1143000"/>
            <a:ext cx="5440680" cy="621792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3D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8232" y="127101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C4B6"/>
                </a:solidFill>
                <a:latin typeface="Calibri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128930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4FBFC"/>
                </a:solidFill>
                <a:latin typeface="Calibri"/>
              </a:rPr>
              <a:t>Proposed System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1856232"/>
            <a:ext cx="5440680" cy="621792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2" y="19842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C4B6"/>
                </a:solidFill>
                <a:latin typeface="Calibri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200253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4FBFC"/>
                </a:solidFill>
                <a:latin typeface="Calibri"/>
              </a:rPr>
              <a:t>Software Requirements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2569464"/>
            <a:ext cx="5440680" cy="621792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3D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28232" y="2697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C4B6"/>
                </a:solidFill>
                <a:latin typeface="Calibri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271576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4FBFC"/>
                </a:solidFill>
                <a:latin typeface="Calibri"/>
              </a:rPr>
              <a:t>Hardware Requirements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3282696"/>
            <a:ext cx="5440680" cy="621792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8232" y="34107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C4B6"/>
                </a:solidFill>
                <a:latin typeface="Calibri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34290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4FBFC"/>
                </a:solidFill>
                <a:latin typeface="Calibri"/>
              </a:rPr>
              <a:t>System Architecture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3995928"/>
            <a:ext cx="5440680" cy="621792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3D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28232" y="412394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C4B6"/>
                </a:solidFill>
                <a:latin typeface="Calibri"/>
              </a:rP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414223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4FBFC"/>
                </a:solidFill>
                <a:latin typeface="Calibri"/>
              </a:rPr>
              <a:t>Dataset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4709160"/>
            <a:ext cx="5440680" cy="621792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28232" y="483717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C4B6"/>
                </a:solidFill>
                <a:latin typeface="Calibri"/>
              </a:rPr>
              <a:t>13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485546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4FBFC"/>
                </a:solidFill>
                <a:latin typeface="Calibri"/>
              </a:rPr>
              <a:t>Algorithms Used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63640" y="5422392"/>
            <a:ext cx="5440680" cy="621792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3D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28232" y="55504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C4B6"/>
                </a:solidFill>
                <a:latin typeface="Calibri"/>
              </a:rPr>
              <a:t>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0" y="556869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4FBFC"/>
                </a:solidFill>
                <a:latin typeface="Calibri"/>
              </a:rPr>
              <a:t>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5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8686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CD6"/>
                </a:solidFill>
                <a:latin typeface="Calibri"/>
              </a:rPr>
              <a:t>Medical Image Analysis for Bone Fracture Detection Using Deep Learning  |  SHIBIN ANTONY  |  811241013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4B6"/>
                </a:solidFill>
                <a:latin typeface="Calibri"/>
              </a:rPr>
              <a:t>SLIDE 04  · 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BFC"/>
                </a:solidFill>
                <a:latin typeface="Calibri"/>
              </a:rPr>
              <a:t>Introduction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3657600" cy="507492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29844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Clinical burden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609344"/>
            <a:ext cx="336499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Millions of fractures occur yearly from trauma, sports, falls, and osteoporosis.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Correct type and site decide conservative care versus operative fixation.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Delay or misclassification can lead to malunion, non-union, or joint damage.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88720"/>
            <a:ext cx="3657600" cy="507492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29844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Diagnostic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1609344"/>
            <a:ext cx="336499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Manual radiograph reading is time-consuming and observer-dependent.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Hairline, greenstick, and overlapping anatomy are easy to miss.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Many regions lack round-the-clock specialist radiology support.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188720"/>
            <a:ext cx="3657600" cy="507492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2" y="129844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Role of deep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1609344"/>
            <a:ext cx="336499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CNNs extract subtle cortical disruption that is hard to verbalize.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Object detection localizes the injury; classifiers name the pattern.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XAI heatmaps keep the clinician in the loop instead of a black box.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5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8686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CD6"/>
                </a:solidFill>
                <a:latin typeface="Calibri"/>
              </a:rPr>
              <a:t>Medical Image Analysis for Bone Fracture Detection Using Deep Learning  |  SHIBIN ANTONY  |  811241013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4B6"/>
                </a:solidFill>
                <a:latin typeface="Calibri"/>
              </a:rPr>
              <a:t>SLIDE 05  · 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BFC"/>
                </a:solidFill>
                <a:latin typeface="Calibri"/>
              </a:rPr>
              <a:t>Problem Statement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70432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31673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01   Subjectivity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673352"/>
            <a:ext cx="3337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BFC"/>
                </a:solidFill>
                <a:latin typeface="Calibri"/>
              </a:rPr>
              <a:t>Inter-observer variability: the same X-ray may be labelled differently by two readers, especially for hairline and pathological fractures.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70432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31673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02   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1673352"/>
            <a:ext cx="3337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BFC"/>
                </a:solidFill>
                <a:latin typeface="Calibri"/>
              </a:rPr>
              <a:t>Emergency and trauma workflows need seconds-level triage, not a long queue for specialist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170432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2" y="131673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03   Narrow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1673352"/>
            <a:ext cx="3337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BFC"/>
                </a:solidFill>
                <a:latin typeface="Calibri"/>
              </a:rPr>
              <a:t>Many published systems handle binary “fracture vs normal” or a few limb sites, not 10+ morphology classes plus full-body anatomy.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776472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392277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04   No action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4279392"/>
            <a:ext cx="3337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BFC"/>
                </a:solidFill>
                <a:latin typeface="Calibri"/>
              </a:rPr>
              <a:t>Detection alone does not communicate likely fixation strategy (plate, rod, screws) for severe displaced injuries.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776472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2" y="392277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05   Weak explainability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4279392"/>
            <a:ext cx="3337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BFC"/>
                </a:solidFill>
                <a:latin typeface="Calibri"/>
              </a:rPr>
              <a:t>Pure accuracy scores do not show where the model looked, reducing clinical trust.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3776472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7032" y="392277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06   Deployment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4279392"/>
            <a:ext cx="3337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BFC"/>
                </a:solidFill>
                <a:latin typeface="Calibri"/>
              </a:rPr>
              <a:t>Research notebooks rarely become a secure, auditable hospital-style web workstation.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5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8686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CD6"/>
                </a:solidFill>
                <a:latin typeface="Calibri"/>
              </a:rPr>
              <a:t>Medical Image Analysis for Bone Fracture Detection Using Deep Learning  |  SHIBIN ANTONY  |  811241013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4B6"/>
                </a:solidFill>
                <a:latin typeface="Calibri"/>
              </a:rPr>
              <a:t>SLIDE 06  ·  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BFC"/>
                </a:solidFill>
                <a:latin typeface="Calibri"/>
              </a:rPr>
              <a:t>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15568"/>
            <a:ext cx="11247120" cy="566928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2529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25296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4FBFC"/>
                </a:solidFill>
                <a:latin typeface="Calibri"/>
              </a:rPr>
              <a:t>Design a medical-grade Flask workstation for real-time X-ray / DICOM fracture analysis.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55648"/>
            <a:ext cx="11247120" cy="566928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6537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865376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4FBFC"/>
                </a:solidFill>
                <a:latin typeface="Calibri"/>
              </a:rPr>
              <a:t>Localize fractures with YOLOv8 bounding boxes across anatomical sites (upper limb, shoulder, pelvis).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95728"/>
            <a:ext cx="11247120" cy="566928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50545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505456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4FBFC"/>
                </a:solidFill>
                <a:latin typeface="Calibri"/>
              </a:rPr>
              <a:t>Classify 10 morphological types using VGG-16 Softmax and VGG-16 + Random Forest as primary models.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035807"/>
            <a:ext cx="11247120" cy="566928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145535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145535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4FBFC"/>
                </a:solidFill>
                <a:latin typeface="Calibri"/>
              </a:rPr>
              <a:t>Benchmark ResNet-50 + SVM and EfficientNetB0 + XGBoost as comparative ensembles (IEEE Access 2025).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75887"/>
            <a:ext cx="11247120" cy="566928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785615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785615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4FBFC"/>
                </a:solidFill>
                <a:latin typeface="Calibri"/>
              </a:rPr>
              <a:t>Integrate Grad-CAM heatmaps so clinicians can verify the region driving the prediction.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315968"/>
            <a:ext cx="11247120" cy="566928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42569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425696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4FBFC"/>
                </a:solidFill>
                <a:latin typeface="Calibri"/>
              </a:rPr>
              <a:t>Auto-generate an educational post-surgical refixation overlay for severe / displaced patterns.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956047"/>
            <a:ext cx="11247120" cy="566928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065775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065775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4FBFC"/>
                </a:solidFill>
                <a:latin typeface="Calibri"/>
              </a:rPr>
              <a:t>Provide secure admin authentication, user roles, metric monitoring, and audit logging.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596127"/>
            <a:ext cx="11247120" cy="566928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705855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705855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4FBFC"/>
                </a:solidFill>
                <a:latin typeface="Calibri"/>
              </a:rPr>
              <a:t>Support training and inference on local machines, Jupyter, and Google Colab at 20,000+ image scale.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5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8686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CD6"/>
                </a:solidFill>
                <a:latin typeface="Calibri"/>
              </a:rPr>
              <a:t>Medical Image Analysis for Bone Fracture Detection Using Deep Learning  |  SHIBIN ANTONY  |  811241013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4B6"/>
                </a:solidFill>
                <a:latin typeface="Calibri"/>
              </a:rPr>
              <a:t>SLIDE 07  ·  PRIOR 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BFC"/>
                </a:solidFill>
                <a:latin typeface="Calibri"/>
              </a:rPr>
              <a:t>Existing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43000"/>
            <a:ext cx="5577840" cy="512064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3D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25272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D8BFD"/>
                </a:solidFill>
                <a:latin typeface="Calibri"/>
              </a:rPr>
              <a:t>Conventional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563624"/>
            <a:ext cx="5285232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Radiologists inspect radiographs manually using experience and side markers.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Reports depend on lighting, fatigue, and case mix; subtle fractures are missed.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Earlier CAD tools were often binary (fracture / no fracture) on a single bone.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Transfer-learning papers used VGG-16 or ResNet-50 in isolation, without a clinical UI.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Few systems couple detection, multi-class typing, XAI, and fixation education.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143000"/>
            <a:ext cx="5577840" cy="512064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25272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A261"/>
                </a:solidFill>
                <a:latin typeface="Calibri"/>
              </a:rPr>
              <a:t>Limitations observed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563624"/>
            <a:ext cx="5285232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IEEE Access 2025: EfficientNetB0 + XGBoost lagged (~41% accuracy) on grayscale X-rays.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Small, imbalanced public sets under-represent longitudinal and oblique fractures.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No standard pathway from a notebook metric to an auditable hospital dashboard.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Absence of surgical-context visualization for comminuted, spiral, and dislocation injuries.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Limited DICOM ingest and no role-based access in typical academic demos.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5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8686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CD6"/>
                </a:solidFill>
                <a:latin typeface="Calibri"/>
              </a:rPr>
              <a:t>Medical Image Analysis for Bone Fracture Detection Using Deep Learning  |  SHIBIN ANTONY  |  811241013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4B6"/>
                </a:solidFill>
                <a:latin typeface="Calibri"/>
              </a:rPr>
              <a:t>SLIDE 08  · 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BFC"/>
                </a:solidFill>
                <a:latin typeface="Calibri"/>
              </a:rPr>
              <a:t>Proposed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70432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FractureNet workstation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39112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4FBFC"/>
                </a:solidFill>
                <a:latin typeface="Calibri"/>
              </a:rPr>
              <a:t>Flask + HTML/CSS/JS clinical UI with dark/light mode, canvas viewer, and admin governance.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70432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353312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Dual-head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039112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4FBFC"/>
                </a:solidFill>
                <a:latin typeface="Calibri"/>
              </a:rPr>
              <a:t>YOLOv8 finds where the injury is; VGG-16 ensembles decide what type it 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170432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353312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Explainability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039112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4FBFC"/>
                </a:solidFill>
                <a:latin typeface="Calibri"/>
              </a:rPr>
              <a:t>Grad-CAM overlays the last convolutional evidence so predictions are visually inspectable.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776472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959352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Refixation 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645152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4FBFC"/>
                </a:solidFill>
                <a:latin typeface="Calibri"/>
              </a:rPr>
              <a:t>Severe classes trigger plate / IM-rod / screw simulation via OpenCV blending and an interactive canvas.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776472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3959352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Comparative science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645152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4FBFC"/>
                </a:solidFill>
                <a:latin typeface="Calibri"/>
              </a:rPr>
              <a:t>Same data protocol as the paper: VGG-16, VGG-16+RF, ResNet-50+SVM, EfficientNetB0+XGBoost.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3776472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3959352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Ops-ready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645152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4FBFC"/>
                </a:solidFill>
                <a:latin typeface="Calibri"/>
              </a:rPr>
              <a:t>SQLite users, hashed passwords, inference history, audit trail; Colab notebook for large-scale training.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5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8686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CD6"/>
                </a:solidFill>
                <a:latin typeface="Calibri"/>
              </a:rPr>
              <a:t>Medical Image Analysis for Bone Fracture Detection Using Deep Learning  |  SHIBIN ANTONY  |  811241013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4B6"/>
                </a:solidFill>
                <a:latin typeface="Calibri"/>
              </a:rPr>
              <a:t>SLIDE 09  · 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BFC"/>
                </a:solidFill>
                <a:latin typeface="Calibri"/>
              </a:rPr>
              <a:t>Software Requirements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43000"/>
            <a:ext cx="5623560" cy="246888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252728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Language &amp;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563624"/>
            <a:ext cx="533095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Python 3.10+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Flask, Jinja2, Werkzeug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HTML5, CSS3, JavaScript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SQLite (users, audits, studies)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43000"/>
            <a:ext cx="5623560" cy="246888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252728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Deep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1563624"/>
            <a:ext cx="533095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PyTorch + Ultralytics YOLOv8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TensorFlow / Keras VGG-16, ResNet-50, EfficientNetB0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CUDA GPU builds when available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749039"/>
            <a:ext cx="5623560" cy="246888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858767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Classical ML &amp; imaging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4169663"/>
            <a:ext cx="533095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Scikit-learn (Random Forest, SVM)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XGBoost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OpenCV, Pillow, pydicom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NumPy, Pandas, Matplotlib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749039"/>
            <a:ext cx="5623560" cy="246888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3858767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Training &amp; 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4169663"/>
            <a:ext cx="533095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Jupyter / Google Colab notebook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Joblib model serialization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TensorBoard + ModelCheckpoint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4FBFC"/>
                </a:solidFill>
                <a:latin typeface="Calibri"/>
              </a:rPr>
              <a:t>•  Git version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5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8686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CD6"/>
                </a:solidFill>
                <a:latin typeface="Calibri"/>
              </a:rPr>
              <a:t>Medical Image Analysis for Bone Fracture Detection Using Deep Learning  |  SHIBIN ANTONY  |  811241013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4B6"/>
                </a:solidFill>
                <a:latin typeface="Calibri"/>
              </a:rPr>
              <a:t>SLIDE 10  · 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BFC"/>
                </a:solidFill>
                <a:latin typeface="Calibri"/>
              </a:rPr>
              <a:t>Hardware Requirements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70432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3D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335024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Minimum (demo / CPU)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039112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BFC"/>
                </a:solidFill>
                <a:latin typeface="Calibri"/>
              </a:rPr>
              <a:t>4-core CPU, 8 GB RAM, 20 GB disk. Runs the Flask UI and OpenCV demo pipeline without trained heavyweights.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70432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3D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335024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Recommended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039112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BFC"/>
                </a:solidFill>
                <a:latin typeface="Calibri"/>
              </a:rPr>
              <a:t>NVIDIA GPU (T4 / RTX 8 GB+), 16–32 GB RAM, 50+ GB SSD for 20k-scale datasets, checkpoints, and YOLO runs.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170432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3D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2" y="1335024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Colab /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2039112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BFC"/>
                </a:solidFill>
                <a:latin typeface="Calibri"/>
              </a:rPr>
              <a:t>Google Colab GPU runtime or equivalent cloud VM; optional Google Drive for dataset and weight export.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776472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3D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3941064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Clinical workstation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4645152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BFC"/>
                </a:solidFill>
                <a:latin typeface="Calibri"/>
              </a:rPr>
              <a:t>Full-HD display for side-by-side original / YOLO / Grad-CAM / refixation; optional DICOM-capable storage.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776472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3D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2" y="3941064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4645152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BFC"/>
                </a:solidFill>
                <a:latin typeface="Calibri"/>
              </a:rPr>
              <a:t>Localhost for on-prem demo; HTTPS reverse proxy if exposed on a hospital LAN (change default secrets).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3776472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3D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7032" y="3941064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Peripherals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4645152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BFC"/>
                </a:solidFill>
                <a:latin typeface="Calibri"/>
              </a:rPr>
              <a:t>Keyboard/mouse for canvas hardware placement; scanner or PACS export for radiograph ingest.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5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8686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CD6"/>
                </a:solidFill>
                <a:latin typeface="Calibri"/>
              </a:rPr>
              <a:t>Medical Image Analysis for Bone Fracture Detection Using Deep Learning  |  SHIBIN ANTONY  |  811241013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4B6"/>
                </a:solidFill>
                <a:latin typeface="Calibri"/>
              </a:rPr>
              <a:t>SLIDE 11  · 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BFC"/>
                </a:solidFill>
                <a:latin typeface="Calibri"/>
              </a:rPr>
              <a:t>System Architecture</a:t>
            </a:r>
          </a:p>
        </p:txBody>
      </p:sp>
      <p:pic>
        <p:nvPicPr>
          <p:cNvPr id="8" name="Picture 7" descr="pp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7635240" cy="4297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38160" y="1097280"/>
            <a:ext cx="3611880" cy="512064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234440"/>
            <a:ext cx="3246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Pipeline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4FBFC"/>
                </a:solidFill>
                <a:latin typeface="Calibri"/>
              </a:rPr>
              <a:t>1. Authenticated upload (PNG/JPEG/DICOM)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4FBFC"/>
                </a:solidFill>
                <a:latin typeface="Calibri"/>
              </a:rPr>
              <a:t>2. Preprocess &amp; CLAHE enhancement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4FBFC"/>
                </a:solidFill>
                <a:latin typeface="Calibri"/>
              </a:rPr>
              <a:t>3. YOLOv8 localization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4FBFC"/>
                </a:solidFill>
                <a:latin typeface="Calibri"/>
              </a:rPr>
              <a:t>4. VGG-16 / RF classification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4FBFC"/>
                </a:solidFill>
                <a:latin typeface="Calibri"/>
              </a:rPr>
              <a:t>5. Comparative heads (optional)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4FBFC"/>
                </a:solidFill>
                <a:latin typeface="Calibri"/>
              </a:rPr>
              <a:t>6. Grad-CAM explanation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4FBFC"/>
                </a:solidFill>
                <a:latin typeface="Calibri"/>
              </a:rPr>
              <a:t>7. Severity gate → refixation overlay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4FBFC"/>
                </a:solidFill>
                <a:latin typeface="Calibri"/>
              </a:rPr>
              <a:t>8. Persist study + audit log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4FBFC"/>
                </a:solidFill>
                <a:latin typeface="Calibri"/>
              </a:rPr>
              <a:t>9. Clinical dashboard 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5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8686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CD6"/>
                </a:solidFill>
                <a:latin typeface="Calibri"/>
              </a:rPr>
              <a:t>Medical Image Analysis for Bone Fracture Detection Using Deep Learning  |  SHIBIN ANTONY  |  811241013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4B6"/>
                </a:solidFill>
                <a:latin typeface="Calibri"/>
              </a:rPr>
              <a:t>SLIDE 12  · 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BFC"/>
                </a:solidFill>
                <a:latin typeface="Calibri"/>
              </a:rPr>
              <a:t>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15568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2529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C4B6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682496"/>
            <a:ext cx="2048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CD6"/>
                </a:solidFill>
                <a:latin typeface="Calibri"/>
              </a:rPr>
              <a:t>Morphology classes
(IEEE Access 2025)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115568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22529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C4B6"/>
                </a:solidFill>
                <a:latin typeface="Calibri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2" y="1682496"/>
            <a:ext cx="2048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CD6"/>
                </a:solidFill>
                <a:latin typeface="Calibri"/>
              </a:rPr>
              <a:t>Anatomical sites
(+ pelvis)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1115568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122529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C4B6"/>
                </a:solidFill>
                <a:latin typeface="Calibri"/>
              </a:rPr>
              <a:t>3,316 / 399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9512" y="1682496"/>
            <a:ext cx="2048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CD6"/>
                </a:solidFill>
                <a:latin typeface="Calibri"/>
              </a:rPr>
              <a:t>YOLO train / val
(abstract protocol)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1115568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122529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C4B6"/>
                </a:solidFill>
                <a:latin typeface="Calibri"/>
              </a:rPr>
              <a:t>20k+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1682496"/>
            <a:ext cx="2048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CD6"/>
                </a:solidFill>
                <a:latin typeface="Calibri"/>
              </a:rPr>
              <a:t>Target scale
(Colab / multi-source)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240" y="1115568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21240" y="122529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C4B6"/>
                </a:solidFill>
                <a:latin typeface="Calibri"/>
              </a:rPr>
              <a:t>256²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94392" y="1682496"/>
            <a:ext cx="2048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CD6"/>
                </a:solidFill>
                <a:latin typeface="Calibri"/>
              </a:rPr>
              <a:t>Classifier input
RGB X-rays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2377440"/>
            <a:ext cx="11338560" cy="141732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487168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C4B6"/>
                </a:solidFill>
                <a:latin typeface="Calibri"/>
              </a:rPr>
              <a:t>Morphological classes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F4FBFC"/>
                </a:solidFill>
                <a:latin typeface="Calibri"/>
              </a:rPr>
              <a:t>Avulsion · Comminuted · Fracture-Dislocation · Greenstick · Hairline · Impacted · Longitudinal · Oblique · Pathological · Spiral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931920"/>
            <a:ext cx="11338560" cy="141732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3D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041648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8BFD"/>
                </a:solidFill>
                <a:latin typeface="Calibri"/>
              </a:rPr>
              <a:t>Anatomical classes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F4FBFC"/>
                </a:solidFill>
                <a:latin typeface="Calibri"/>
              </a:rPr>
              <a:t>Elbow Positive · Fingers Positive · Forearm Fracture · Humerus · Humerus Fracture · Shoulder Fracture · Wrist Positive · Pelvic Fracture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CD6"/>
                </a:solidFill>
                <a:latin typeface="Calibri"/>
              </a:rPr>
              <a:t>Paper set: 1,129 labelled X-rays (989 train / 140 test, 80/20 val split), grayscale converted to 256×256×3. YOLO set uses Ultralytics labels. Public Kaggle fracture collections can be merged to reach 20,000+ images; class imbalance (longitudinal / oblique under-represented) is handled with augmentation and balanced forests.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5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8686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CD6"/>
                </a:solidFill>
                <a:latin typeface="Calibri"/>
              </a:rPr>
              <a:t>Medical Image Analysis for Bone Fracture Detection Using Deep Learning  |  SHIBIN ANTONY  |  811241013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4B6"/>
                </a:solidFill>
                <a:latin typeface="Calibri"/>
              </a:rPr>
              <a:t>SLIDE 13  · 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BFC"/>
                </a:solidFill>
                <a:latin typeface="Calibri"/>
              </a:rPr>
              <a:t>Algorithms Used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43000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30759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YOLOv8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87452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BFC"/>
                </a:solidFill>
                <a:latin typeface="Calibri"/>
              </a:rPr>
              <a:t>Primary detector. Single-pass localization and anatomical labels. Abstract mAP50 = 86%.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43000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30759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VGG-16 + Softmax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187452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BFC"/>
                </a:solidFill>
                <a:latin typeface="Calibri"/>
              </a:rPr>
              <a:t>Frozen ImageNet backbone, Dense–ReLU–Dropout–Softmax, Adam 5e-4, CCE, 20 epochs. Accuracy 0.95.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143000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2" y="130759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VGG-16 + 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187452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BFC"/>
                </a:solidFill>
                <a:latin typeface="Calibri"/>
              </a:rPr>
              <a:t>Avg-pooled VGG features → 300-tree balanced RF. Top hybrid in the reference paper (0.95).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749039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3913631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ResNet-50 + SVM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4480559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BFC"/>
                </a:solidFill>
                <a:latin typeface="Calibri"/>
              </a:rPr>
              <a:t>Residual features + linear SVM. Comparative ensemble, ~0.93 accuracy.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749039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2" y="3913631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EfficientNetB0 + XGBoost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4480559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BFC"/>
                </a:solidFill>
                <a:latin typeface="Calibri"/>
              </a:rPr>
              <a:t>Compound-scaled CNN features + gradient boosting. Paper baseline (~0.41) kept for fair comparison.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3749039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7032" y="3913631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Grad-CAM + Refixation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4480559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BFC"/>
                </a:solidFill>
                <a:latin typeface="Calibri"/>
              </a:rPr>
              <a:t>Last-conv heatmaps for XAI. AO-style plate / IM nail / screw overlay for severe classes.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5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8686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CD6"/>
                </a:solidFill>
                <a:latin typeface="Calibri"/>
              </a:rPr>
              <a:t>Medical Image Analysis for Bone Fracture Detection Using Deep Learning  |  SHIBIN ANTONY  |  811241013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4B6"/>
                </a:solidFill>
                <a:latin typeface="Calibri"/>
              </a:rPr>
              <a:t>SLIDE 14  ·  CLOSING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BFC"/>
                </a:solidFill>
                <a:latin typeface="Calibri"/>
              </a:rPr>
              <a:t>Conclusion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5272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C4B6"/>
                </a:solidFill>
                <a:latin typeface="Calibri"/>
              </a:rPr>
              <a:t>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09928"/>
            <a:ext cx="2048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CD6"/>
                </a:solidFill>
                <a:latin typeface="Calibri"/>
              </a:rPr>
              <a:t>VGG-16 / VGG-16+RF
classification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143000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25272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C4B6"/>
                </a:solidFill>
                <a:latin typeface="Calibri"/>
              </a:rPr>
              <a:t>86%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1709928"/>
            <a:ext cx="2048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CD6"/>
                </a:solidFill>
                <a:latin typeface="Calibri"/>
              </a:rPr>
              <a:t>YOLOv8 mAP50
real-time detection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143000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25272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C4B6"/>
                </a:solidFill>
                <a:latin typeface="Calibri"/>
              </a:rPr>
              <a:t>93%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09928"/>
            <a:ext cx="2048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CD6"/>
                </a:solidFill>
                <a:latin typeface="Calibri"/>
              </a:rPr>
              <a:t>ResNet-50 + SVM
comparative hybrid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143000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25272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C4B6"/>
                </a:solidFill>
                <a:latin typeface="Calibri"/>
              </a:rPr>
              <a:t>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1709928"/>
            <a:ext cx="2048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CD6"/>
                </a:solidFill>
                <a:latin typeface="Calibri"/>
              </a:rPr>
              <a:t>Unified classes
morphology + anatomy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468880"/>
            <a:ext cx="11247120" cy="37947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 w="15875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651760"/>
            <a:ext cx="107899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FBFC"/>
                </a:solidFill>
                <a:latin typeface="Calibri"/>
              </a:rPr>
              <a:t>This work delivers an end-to-end, IEEE-aligned platform: YOLOv8 finds the fracture, VGG-16 ensembles name it, Grad-CAM explains it, and a refixation module illustrates likely hardware for severe injuries—inside a secure clinical web app.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1500" b="0">
                <a:solidFill>
                  <a:srgbClr val="F4FBFC"/>
                </a:solidFill>
                <a:latin typeface="Calibri"/>
              </a:rPr>
              <a:t>Results align with published evidence that VGG-16-based models outperform lighter hybrids on this X-ray taxonomy. The system is intended as decision support and education—not a certified medical device—and every output requires licensed clinical review.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1500" b="1">
                <a:solidFill>
                  <a:srgbClr val="2EC4B6"/>
                </a:solidFill>
                <a:latin typeface="Calibri"/>
              </a:rPr>
              <a:t>Future work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F4FBFC"/>
                </a:solidFill>
                <a:latin typeface="Calibri"/>
              </a:rPr>
              <a:t>• Multi-centre 20k+ labelled set  ·  Unfreeze later VGG blocks  ·  3D CT/MRI fusion  ·  Prospective reader study  ·  PACS/HL7 integration  ·  Regulatory-grade validation</a:t>
            </a:r>
          </a:p>
          <a:p>
            <a:pPr algn="ctr"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2EC4B6"/>
                </a:solidFill>
                <a:latin typeface="Calibri"/>
              </a:rPr>
              <a:t>Thank you  ·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